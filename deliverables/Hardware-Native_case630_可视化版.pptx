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a67029a7e947ba" /><Relationship Type="http://schemas.openxmlformats.org/officeDocument/2006/relationships/extended-properties" Target="/docProps/app.xml" Id="R29d48fcce2744395" /><Relationship Type="http://schemas.openxmlformats.org/officeDocument/2006/relationships/officeDocument" Target="/ppt/presentation.xml" Id="R275cc188537c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a058009e54458"/>
  </p:sldMasterIdLst>
  <p:notesMasterIdLst>
    <p:notesMasterId xmlns:r="http://schemas.openxmlformats.org/officeDocument/2006/relationships" r:id="Ra1219abab00c4420"/>
  </p:notesMasterIdLst>
  <p:sldIdLst>
    <p:sldId xmlns:r="http://schemas.openxmlformats.org/officeDocument/2006/relationships" id="256" r:id="R6b8592a70f384e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d919cc3f8d4217" /><Relationship Type="http://schemas.openxmlformats.org/officeDocument/2006/relationships/slideMaster" Target="/ppt/slideMasters/slideMaster1.xml" Id="Rf49a058009e54458" /><Relationship Type="http://schemas.openxmlformats.org/officeDocument/2006/relationships/notesMaster" Target="/ppt/notesMasters/notesMaster1.xml" Id="Ra1219abab00c4420" /><Relationship Type="http://schemas.openxmlformats.org/officeDocument/2006/relationships/presProps" Target="/ppt/presProps.xml" Id="Rf94ebd434575403c" /><Relationship Type="http://schemas.openxmlformats.org/officeDocument/2006/relationships/tableStyles" Target="/ppt/tableStyles.xml" Id="R2bdefa79799547da" /><Relationship Type="http://schemas.openxmlformats.org/officeDocument/2006/relationships/slide" Target="/ppt/slides/slide1.xml" Id="R6b8592a70f384e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8bb32642e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09315e19034ebe" /><Relationship Type="http://schemas.openxmlformats.org/officeDocument/2006/relationships/notesMaster" Target="/ppt/notesMasters/notesMaster1.xml" Id="R29ced1773e3f42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https://github.com/hw-native-sys/pypto/issues/630</a:t>
            </a:r>
          </a:p>
          <a:p xmlns:a="http://schemas.openxmlformats.org/drawingml/2006/main">
            <a:r>
              <a:t>Issue facts: DeepSeek V3.2 decode operator; KV_LORA_RANK changed from 128 to 512; AllocateMemoryAddr reports Right buffer usage 98304 bytes exceeds platform limit 65536 bytes at deepseek_v3_2_decode_front.py:390:20. Issue says to add a loop over KV_LORA_RANK_CFG. The before/after tiling bars are schematic and do not assert a fixed chunk count or chunk size. The causal diagnosis, visualization, and user-facing feedback are product design proposals, not existing system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5517a7d0748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a866b09fe4c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e4b05163b4b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a51e5970e47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67f9a249c44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2156ec8a14d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5DA922-B2A3-4382-9B15-7679188F8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2E91A8-92D1-4B81-A1D0-2C21665CF7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DE7A64-6FE2-4A7E-AC79-3C7F50C06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6ED9C2-199A-487E-92CC-383B0772B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61568A-6E56-4C9F-9F1C-C6B2841AE2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E1B057-D261-4F8C-9EBE-45A3943D7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170A31-9BD7-43E1-8AC4-F6B7E5FBDB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85F624-68E3-4462-B084-76A47F857D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DB4D6F-7974-481A-8A27-C5DE79862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DBE153-309E-4FF0-B78A-334C2CDEB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aa15bedaba48ec" /><Relationship Type="http://schemas.openxmlformats.org/officeDocument/2006/relationships/slideLayout" Target="/ppt/slideLayouts/slideLayout1.xml" Id="R7c871d322c1349d5" /><Relationship Type="http://schemas.openxmlformats.org/officeDocument/2006/relationships/slideLayout" Target="/ppt/slideLayouts/slideLayout2.xml" Id="R51fa88c2ce3d4cd4" /><Relationship Type="http://schemas.openxmlformats.org/officeDocument/2006/relationships/slideLayout" Target="/ppt/slideLayouts/slideLayout3.xml" Id="Rb230e779af1b4a65" /><Relationship Type="http://schemas.openxmlformats.org/officeDocument/2006/relationships/slideLayout" Target="/ppt/slideLayouts/slideLayout4.xml" Id="R60f9a25b0ba24986" /><Relationship Type="http://schemas.openxmlformats.org/officeDocument/2006/relationships/slideLayout" Target="/ppt/slideLayouts/slideLayout5.xml" Id="Re700ecafeacb4913" /><Relationship Type="http://schemas.openxmlformats.org/officeDocument/2006/relationships/slideLayout" Target="/ppt/slideLayouts/slideLayout6.xml" Id="R3436c6c7ee9441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871d322c1349d5"/>
    <p:sldLayoutId xmlns:r="http://schemas.openxmlformats.org/officeDocument/2006/relationships" id="2147483650" r:id="R51fa88c2ce3d4cd4"/>
    <p:sldLayoutId xmlns:r="http://schemas.openxmlformats.org/officeDocument/2006/relationships" id="2147483651" r:id="Rb230e779af1b4a65"/>
    <p:sldLayoutId xmlns:r="http://schemas.openxmlformats.org/officeDocument/2006/relationships" id="2147483652" r:id="R60f9a25b0ba24986"/>
    <p:sldLayoutId xmlns:r="http://schemas.openxmlformats.org/officeDocument/2006/relationships" id="2147483653" r:id="Re700ecafeacb4913"/>
    <p:sldLayoutId xmlns:r="http://schemas.openxmlformats.org/officeDocument/2006/relationships" id="2147483654" r:id="R3436c6c7ee9441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cdb365e774819" /><Relationship Type="http://schemas.openxmlformats.org/officeDocument/2006/relationships/notesSlide" Target="/ppt/notesSlides/notesSlide1.xml" Id="R32d7cef7adbc4f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itle">
            <a:extLst xmlns:a="http://schemas.openxmlformats.org/drawingml/2006/main">
              <a:ext uri="{FF2B5EF4-FFF2-40B4-BE49-F238E27FC236}">
                <a16:creationId xmlns:a16="http://schemas.microsoft.com/office/drawing/2014/main" id="{B5A62B53-1785-44A5-B4AB-35757CA4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片上容量报错：从硬件数字到代码动作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216124-56A6-4397-AF29-1D932FC5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pypto#630 · DeepSeek V3.2 decode · 用户改了 rank，系统应帮他找到该分块的维度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BFDBBBD-77BE-4C73-A6B3-8166C876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use-label">
            <a:extLst xmlns:a="http://schemas.openxmlformats.org/drawingml/2006/main">
              <a:ext uri="{FF2B5EF4-FFF2-40B4-BE49-F238E27FC236}">
                <a16:creationId xmlns:a16="http://schemas.microsoft.com/office/drawing/2014/main" id="{1403C8D7-00D4-4865-BB2D-F393C76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rPr>
              <a:t>发生了什么</a:t>
            </a:r>
          </a:p>
        </p:txBody>
      </p:sp>
      <p:sp>
        <p:nvSpPr>
          <p:cNvPr id="5" name="rank-change">
            <a:extLst xmlns:a="http://schemas.openxmlformats.org/drawingml/2006/main">
              <a:ext uri="{FF2B5EF4-FFF2-40B4-BE49-F238E27FC236}">
                <a16:creationId xmlns:a16="http://schemas.microsoft.com/office/drawing/2014/main" id="{C2692068-6CF2-4F21-A4EA-4105D385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KV_LORA_RANK</a:t>
            </a:r>
          </a:p>
        </p:txBody>
      </p:sp>
      <p:sp>
        <p:nvSpPr>
          <p:cNvPr id="6" name="rank-values">
            <a:extLst xmlns:a="http://schemas.openxmlformats.org/drawingml/2006/main">
              <a:ext uri="{FF2B5EF4-FFF2-40B4-BE49-F238E27FC236}">
                <a16:creationId xmlns:a16="http://schemas.microsoft.com/office/drawing/2014/main" id="{54D333E3-B071-4D69-912D-C37726CA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rPr>
              <a:t>128  →  512</a:t>
            </a:r>
          </a:p>
        </p:txBody>
      </p:sp>
      <p:sp>
        <p:nvSpPr>
          <p:cNvPr id="7" name="rank-scale">
            <a:extLst xmlns:a="http://schemas.openxmlformats.org/drawingml/2006/main">
              <a:ext uri="{FF2B5EF4-FFF2-40B4-BE49-F238E27FC236}">
                <a16:creationId xmlns:a16="http://schemas.microsoft.com/office/drawing/2014/main" id="{9957210A-F8F9-42F7-8EF9-4784EDB4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rank 维扩大 4 倍</a:t>
            </a:r>
          </a:p>
        </p:txBody>
      </p:sp>
      <p:sp>
        <p:nvSpPr>
          <p:cNvPr id="8" name="tile-current-label">
            <a:extLst xmlns:a="http://schemas.openxmlformats.org/drawingml/2006/main">
              <a:ext uri="{FF2B5EF4-FFF2-40B4-BE49-F238E27FC236}">
                <a16:creationId xmlns:a16="http://schemas.microsoft.com/office/drawing/2014/main" id="{7459A24A-B5A6-4485-B7C4-225BDFA5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09700"/>
            <a:ext cx="433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当前：一个 tile 覆盖更长的 rank</a:t>
            </a:r>
          </a:p>
        </p:txBody>
      </p:sp>
      <p:sp>
        <p:nvSpPr>
          <p:cNvPr id="9" name="tile-current">
            <a:extLst xmlns:a="http://schemas.openxmlformats.org/drawingml/2006/main">
              <a:ext uri="{FF2B5EF4-FFF2-40B4-BE49-F238E27FC236}">
                <a16:creationId xmlns:a16="http://schemas.microsoft.com/office/drawing/2014/main" id="{EA686A7E-1A78-471A-9678-91E91CD0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52600"/>
            <a:ext cx="400050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EEE9"/>
          </a:solidFill>
          <a:ln xmlns:a="http://schemas.openxmlformats.org/drawingml/2006/main" w="9525">
            <a:solidFill>
              <a:srgbClr val="B6532E"/>
            </a:solidFill>
            <a:prstDash val="solid"/>
          </a:ln>
        </p:spPr>
      </p:sp>
      <p:sp>
        <p:nvSpPr>
          <p:cNvPr id="10" name="tile-current-range">
            <a:extLst xmlns:a="http://schemas.openxmlformats.org/drawingml/2006/main">
              <a:ext uri="{FF2B5EF4-FFF2-40B4-BE49-F238E27FC236}">
                <a16:creationId xmlns:a16="http://schemas.microsoft.com/office/drawing/2014/main" id="{4F715EA9-801C-4969-8CF1-DDFF132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28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rPr>
              <a:t>rank 0  ─────────────────────  512</a:t>
            </a:r>
          </a:p>
        </p:txBody>
      </p:sp>
      <p:sp>
        <p:nvSpPr>
          <p:cNvPr id="11" name="tile-current-caption">
            <a:extLst xmlns:a="http://schemas.openxmlformats.org/drawingml/2006/main">
              <a:ext uri="{FF2B5EF4-FFF2-40B4-BE49-F238E27FC236}">
                <a16:creationId xmlns:a16="http://schemas.microsoft.com/office/drawing/2014/main" id="{585BAD66-21ED-44C0-86E0-7C9D842A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单块数据量增加，Right buffer 需求上升</a:t>
            </a:r>
          </a:p>
        </p:txBody>
      </p:sp>
      <p:sp>
        <p:nvSpPr>
          <p:cNvPr id="12" name="capacity-label">
            <a:extLst xmlns:a="http://schemas.openxmlformats.org/drawingml/2006/main">
              <a:ext uri="{FF2B5EF4-FFF2-40B4-BE49-F238E27FC236}">
                <a16:creationId xmlns:a16="http://schemas.microsoft.com/office/drawing/2014/main" id="{F38C2B90-B50F-458E-A3D5-8E0123B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09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编译报告：Right buffer 超过上限</a:t>
            </a:r>
          </a:p>
        </p:txBody>
      </p:sp>
      <p:sp>
        <p:nvSpPr>
          <p:cNvPr id="13" name="capacity-value">
            <a:extLst xmlns:a="http://schemas.openxmlformats.org/drawingml/2006/main">
              <a:ext uri="{FF2B5EF4-FFF2-40B4-BE49-F238E27FC236}">
                <a16:creationId xmlns:a16="http://schemas.microsoft.com/office/drawing/2014/main" id="{97F02E00-211D-4935-B32E-8A017E5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rPr>
              <a:t>96 KiB  /  64 KiB</a:t>
            </a:r>
          </a:p>
        </p:txBody>
      </p:sp>
      <p:sp>
        <p:nvSpPr>
          <p:cNvPr id="14" name="capacity-track">
            <a:extLst xmlns:a="http://schemas.openxmlformats.org/drawingml/2006/main">
              <a:ext uri="{FF2B5EF4-FFF2-40B4-BE49-F238E27FC236}">
                <a16:creationId xmlns:a16="http://schemas.microsoft.com/office/drawing/2014/main" id="{5E631101-0C56-4A2D-B682-4E2E5D27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14550"/>
            <a:ext cx="37147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acity-bar">
            <a:extLst xmlns:a="http://schemas.openxmlformats.org/drawingml/2006/main">
              <a:ext uri="{FF2B5EF4-FFF2-40B4-BE49-F238E27FC236}">
                <a16:creationId xmlns:a16="http://schemas.microsoft.com/office/drawing/2014/main" id="{35FFA923-04E5-4A3E-9C50-23ADFA0F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14550"/>
            <a:ext cx="371475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64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pacity-limit">
            <a:extLst xmlns:a="http://schemas.openxmlformats.org/drawingml/2006/main">
              <a:ext uri="{FF2B5EF4-FFF2-40B4-BE49-F238E27FC236}">
                <a16:creationId xmlns:a16="http://schemas.microsoft.com/office/drawing/2014/main" id="{9F38C709-39D9-470F-833F-7C8E6763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47875"/>
            <a:ext cx="285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pacity-limit-label">
            <a:extLst xmlns:a="http://schemas.openxmlformats.org/drawingml/2006/main">
              <a:ext uri="{FF2B5EF4-FFF2-40B4-BE49-F238E27FC236}">
                <a16:creationId xmlns:a16="http://schemas.microsoft.com/office/drawing/2014/main" id="{C6941ED7-3B17-401A-9CC6-E2B0EA00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193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容量上限 64 KiB</a:t>
            </a:r>
          </a:p>
        </p:txBody>
      </p:sp>
      <p:sp>
        <p:nvSpPr>
          <p:cNvPr id="18" name="capacity-error">
            <a:extLst xmlns:a="http://schemas.openxmlformats.org/drawingml/2006/main">
              <a:ext uri="{FF2B5EF4-FFF2-40B4-BE49-F238E27FC236}">
                <a16:creationId xmlns:a16="http://schemas.microsoft.com/office/drawing/2014/main" id="{344ED44E-ECBB-4D08-BC9E-5611318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38425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98,304 B  &gt;  65,536 B</a:t>
            </a:r>
          </a:p>
        </p:txBody>
      </p:sp>
      <p:sp>
        <p:nvSpPr>
          <p:cNvPr id="19" name="capacity-location">
            <a:extLst xmlns:a="http://schemas.openxmlformats.org/drawingml/2006/main">
              <a:ext uri="{FF2B5EF4-FFF2-40B4-BE49-F238E27FC236}">
                <a16:creationId xmlns:a16="http://schemas.microsoft.com/office/drawing/2014/main" id="{606C1CA1-8658-46E2-89C2-70092FBB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051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rPr>
              <a:t>AllocateMemoryAddr · deepseek_v3_2_decode_front.py:390:20</a:t>
            </a:r>
          </a:p>
        </p:txBody>
      </p:sp>
      <p:sp>
        <p:nvSpPr>
          <p:cNvPr id="2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7CC3219-D1CC-4521-9989-C6FAB66F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AE17F7EA-638E-4EA1-B740-3969D5CE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同一条报错，两种反馈方式</a:t>
            </a:r>
          </a:p>
        </p:txBody>
      </p:sp>
      <p:sp>
        <p:nvSpPr>
          <p:cNvPr id="22" name="bad-label">
            <a:extLst xmlns:a="http://schemas.openxmlformats.org/drawingml/2006/main">
              <a:ext uri="{FF2B5EF4-FFF2-40B4-BE49-F238E27FC236}">
                <a16:creationId xmlns:a16="http://schemas.microsoft.com/office/drawing/2014/main" id="{2ED0100F-F82B-4A4A-B419-891B893C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rPr>
              <a:t>反面：把知识倒给用户</a:t>
            </a:r>
          </a:p>
        </p:txBody>
      </p:sp>
      <p:sp>
        <p:nvSpPr>
          <p:cNvPr id="23" name="log-sheet">
            <a:extLst xmlns:a="http://schemas.openxmlformats.org/drawingml/2006/main">
              <a:ext uri="{FF2B5EF4-FFF2-40B4-BE49-F238E27FC236}">
                <a16:creationId xmlns:a16="http://schemas.microsoft.com/office/drawing/2014/main" id="{AD8E9555-27DB-424C-822D-6491779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2924175" cy="7334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6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og-lines">
            <a:extLst xmlns:a="http://schemas.openxmlformats.org/drawingml/2006/main">
              <a:ext uri="{FF2B5EF4-FFF2-40B4-BE49-F238E27FC236}">
                <a16:creationId xmlns:a16="http://schemas.microsoft.com/office/drawing/2014/main" id="{E3AD6551-FE9F-4692-80E1-2D2D5471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0525"/>
            <a:ext cx="2647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use count = 1</a:t>
            </a:r>
          </a:p>
          <a:p xmlns:a="http://schemas.openxmlformats.org/drawingml/2006/main">
            <a: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lifetime [3, 4] · space=1</a:t>
            </a:r>
          </a:p>
          <a:p xmlns:a="http://schemas.openxmlformats.org/drawingml/2006/main">
            <a:pPr algn="l">
              <a:def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size=32768 · address ...</a:t>
            </a:r>
          </a:p>
        </p:txBody>
      </p:sp>
      <p:sp>
        <p:nvSpPr>
          <p:cNvPr id="25" name="bad-question">
            <a:extLst xmlns:a="http://schemas.openxmlformats.org/drawingml/2006/main">
              <a:ext uri="{FF2B5EF4-FFF2-40B4-BE49-F238E27FC236}">
                <a16:creationId xmlns:a16="http://schemas.microsoft.com/office/drawing/2014/main" id="{6C41910C-0380-4EDF-89F7-CB94895B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1957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用户还得自己问：</a:t>
            </a:r>
          </a:p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哪个字段和 rank 有关？改哪一维？</a:t>
            </a:r>
          </a:p>
        </p:txBody>
      </p:sp>
      <p:sp>
        <p:nvSpPr>
          <p:cNvPr id="26" name="bad-result">
            <a:extLst xmlns:a="http://schemas.openxmlformats.org/drawingml/2006/main">
              <a:ext uri="{FF2B5EF4-FFF2-40B4-BE49-F238E27FC236}">
                <a16:creationId xmlns:a16="http://schemas.microsoft.com/office/drawing/2014/main" id="{A013C91A-FADA-434E-B4B6-9A13DD54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642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64C42"/>
                </a:solidFill>
                <a:latin typeface="Microsoft YaHei"/>
                <a:ea typeface="Microsoft YaHei"/>
                <a:cs typeface="Microsoft YaHei"/>
              </a:rPr>
              <a:t>信息很多，下一步不明确</a:t>
            </a:r>
          </a:p>
        </p:txBody>
      </p:sp>
      <p:sp>
        <p:nvSpPr>
          <p:cNvPr id="27" name="good-label">
            <a:extLst xmlns:a="http://schemas.openxmlformats.org/drawingml/2006/main">
              <a:ext uri="{FF2B5EF4-FFF2-40B4-BE49-F238E27FC236}">
                <a16:creationId xmlns:a16="http://schemas.microsoft.com/office/drawing/2014/main" id="{A50187E2-E6AB-4678-BCE4-87D94F14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004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合理：先关联，再给动作</a:t>
            </a:r>
          </a:p>
        </p:txBody>
      </p:sp>
      <p:sp>
        <p:nvSpPr>
          <p:cNvPr id="28" name="good-step-0">
            <a:extLst xmlns:a="http://schemas.openxmlformats.org/drawingml/2006/main">
              <a:ext uri="{FF2B5EF4-FFF2-40B4-BE49-F238E27FC236}">
                <a16:creationId xmlns:a16="http://schemas.microsoft.com/office/drawing/2014/main" id="{8380997E-417A-481E-8886-160FDFF8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52900"/>
            <a:ext cx="1219200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ood-step-head-0">
            <a:extLst xmlns:a="http://schemas.openxmlformats.org/drawingml/2006/main">
              <a:ext uri="{FF2B5EF4-FFF2-40B4-BE49-F238E27FC236}">
                <a16:creationId xmlns:a16="http://schemas.microsoft.com/office/drawing/2014/main" id="{049AA8E1-4AF4-4226-B203-6DDDF376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195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本次改动</a:t>
            </a:r>
          </a:p>
        </p:txBody>
      </p:sp>
      <p:sp>
        <p:nvSpPr>
          <p:cNvPr id="30" name="good-step-value-0">
            <a:extLst xmlns:a="http://schemas.openxmlformats.org/drawingml/2006/main">
              <a:ext uri="{FF2B5EF4-FFF2-40B4-BE49-F238E27FC236}">
                <a16:creationId xmlns:a16="http://schemas.microsoft.com/office/drawing/2014/main" id="{3B7B5A58-FFDC-48BD-9E64-1DFA9F0D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rank ×4</a:t>
            </a:r>
          </a:p>
        </p:txBody>
      </p:sp>
      <p:sp>
        <p:nvSpPr>
          <p:cNvPr id="31" name="good-arrow-0">
            <a:extLst xmlns:a="http://schemas.openxmlformats.org/drawingml/2006/main">
              <a:ext uri="{FF2B5EF4-FFF2-40B4-BE49-F238E27FC236}">
                <a16:creationId xmlns:a16="http://schemas.microsoft.com/office/drawing/2014/main" id="{EC44CB83-7939-468E-BF90-7A71B9DD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2957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good-step-1">
            <a:extLst xmlns:a="http://schemas.openxmlformats.org/drawingml/2006/main">
              <a:ext uri="{FF2B5EF4-FFF2-40B4-BE49-F238E27FC236}">
                <a16:creationId xmlns:a16="http://schemas.microsoft.com/office/drawing/2014/main" id="{03D48825-1079-48D0-8361-8568A0E6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1219200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ood-step-head-1">
            <a:extLst xmlns:a="http://schemas.openxmlformats.org/drawingml/2006/main">
              <a:ext uri="{FF2B5EF4-FFF2-40B4-BE49-F238E27FC236}">
                <a16:creationId xmlns:a16="http://schemas.microsoft.com/office/drawing/2014/main" id="{EA05973D-5A71-4A9C-8ACE-408C54AF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195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资源结果</a:t>
            </a:r>
          </a:p>
        </p:txBody>
      </p:sp>
      <p:sp>
        <p:nvSpPr>
          <p:cNvPr id="34" name="good-step-value-1">
            <a:extLst xmlns:a="http://schemas.openxmlformats.org/drawingml/2006/main">
              <a:ext uri="{FF2B5EF4-FFF2-40B4-BE49-F238E27FC236}">
                <a16:creationId xmlns:a16="http://schemas.microsoft.com/office/drawing/2014/main" id="{A735EB4A-0544-4715-A09C-B4E12305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38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Right 超限</a:t>
            </a:r>
          </a:p>
        </p:txBody>
      </p:sp>
      <p:sp>
        <p:nvSpPr>
          <p:cNvPr id="35" name="good-arrow-1">
            <a:extLst xmlns:a="http://schemas.openxmlformats.org/drawingml/2006/main">
              <a:ext uri="{FF2B5EF4-FFF2-40B4-BE49-F238E27FC236}">
                <a16:creationId xmlns:a16="http://schemas.microsoft.com/office/drawing/2014/main" id="{B9D540F3-1EFA-42AF-8B8C-0A57CAFC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295775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good-step-2">
            <a:extLst xmlns:a="http://schemas.openxmlformats.org/drawingml/2006/main">
              <a:ext uri="{FF2B5EF4-FFF2-40B4-BE49-F238E27FC236}">
                <a16:creationId xmlns:a16="http://schemas.microsoft.com/office/drawing/2014/main" id="{52CF66C7-BDA0-4861-9F1B-F9EB612A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52900"/>
            <a:ext cx="1219200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ood-step-head-2">
            <a:extLst xmlns:a="http://schemas.openxmlformats.org/drawingml/2006/main">
              <a:ext uri="{FF2B5EF4-FFF2-40B4-BE49-F238E27FC236}">
                <a16:creationId xmlns:a16="http://schemas.microsoft.com/office/drawing/2014/main" id="{007709B8-AA74-43BA-A636-E758A692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2195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代码动作</a:t>
            </a:r>
          </a:p>
        </p:txBody>
      </p:sp>
      <p:sp>
        <p:nvSpPr>
          <p:cNvPr id="38" name="good-step-value-2">
            <a:extLst xmlns:a="http://schemas.openxmlformats.org/drawingml/2006/main">
              <a:ext uri="{FF2B5EF4-FFF2-40B4-BE49-F238E27FC236}">
                <a16:creationId xmlns:a16="http://schemas.microsoft.com/office/drawing/2014/main" id="{0999DF1F-6F9E-48E2-AFA6-D1056819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438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沿 rank 分块</a:t>
            </a:r>
          </a:p>
        </p:txBody>
      </p:sp>
      <p:sp>
        <p:nvSpPr>
          <p:cNvPr id="39" name="good-result">
            <a:extLst xmlns:a="http://schemas.openxmlformats.org/drawingml/2006/main">
              <a:ext uri="{FF2B5EF4-FFF2-40B4-BE49-F238E27FC236}">
                <a16:creationId xmlns:a16="http://schemas.microsoft.com/office/drawing/2014/main" id="{B2521329-AB4A-4304-9352-74C634F2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434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用户直接知道“从哪里改”</a:t>
            </a:r>
          </a:p>
        </p:txBody>
      </p:sp>
      <p:sp>
        <p:nvSpPr>
          <p:cNvPr id="40" name="tiling-rule">
            <a:extLst xmlns:a="http://schemas.openxmlformats.org/drawingml/2006/main">
              <a:ext uri="{FF2B5EF4-FFF2-40B4-BE49-F238E27FC236}">
                <a16:creationId xmlns:a16="http://schemas.microsoft.com/office/drawing/2014/main" id="{4601E54A-C9B5-4B99-8E33-A37BAFC3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iling-title">
            <a:extLst xmlns:a="http://schemas.openxmlformats.org/drawingml/2006/main">
              <a:ext uri="{FF2B5EF4-FFF2-40B4-BE49-F238E27FC236}">
                <a16:creationId xmlns:a16="http://schemas.microsoft.com/office/drawing/2014/main" id="{2DDB6044-3B47-4691-A876-53F8E9C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923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Tiling 示意：把一次处理的长区间，拆成循环处理的小区间</a:t>
            </a:r>
          </a:p>
        </p:txBody>
      </p:sp>
      <p:sp>
        <p:nvSpPr>
          <p:cNvPr id="42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1F8E0FC8-F26D-442D-8855-7C483C56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16D"/>
                </a:solidFill>
                <a:latin typeface="Microsoft YaHei"/>
                <a:ea typeface="Microsoft YaHei"/>
                <a:cs typeface="Microsoft YaHei"/>
              </a:rPr>
              <a:t>当前：单块覆盖 0–512</a:t>
            </a:r>
          </a:p>
        </p:txBody>
      </p:sp>
      <p:sp>
        <p:nvSpPr>
          <p:cNvPr id="43" name="before-bar">
            <a:extLst xmlns:a="http://schemas.openxmlformats.org/drawingml/2006/main">
              <a:ext uri="{FF2B5EF4-FFF2-40B4-BE49-F238E27FC236}">
                <a16:creationId xmlns:a16="http://schemas.microsoft.com/office/drawing/2014/main" id="{244A6CE6-5768-4C98-B111-89414A5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38100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EEE9"/>
          </a:solidFill>
          <a:ln xmlns:a="http://schemas.openxmlformats.org/drawingml/2006/main" w="9525">
            <a:solidFill>
              <a:srgbClr val="B6532E"/>
            </a:solidFill>
            <a:prstDash val="solid"/>
          </a:ln>
        </p:spPr>
      </p:sp>
      <p:sp>
        <p:nvSpPr>
          <p:cNvPr id="44" name="before-bar-text">
            <a:extLst xmlns:a="http://schemas.openxmlformats.org/drawingml/2006/main">
              <a:ext uri="{FF2B5EF4-FFF2-40B4-BE49-F238E27FC236}">
                <a16:creationId xmlns:a16="http://schemas.microsoft.com/office/drawing/2014/main" id="{2115EA1F-F43E-41CC-9D45-1E3146C8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6532E"/>
                </a:solidFill>
                <a:latin typeface="Microsoft YaHei"/>
                <a:ea typeface="Microsoft YaHei"/>
                <a:cs typeface="Microsoft YaHei"/>
              </a:rPr>
              <a:t>一个 tile</a:t>
            </a:r>
          </a:p>
        </p:txBody>
      </p:sp>
      <p:sp>
        <p:nvSpPr>
          <p:cNvPr id="45" name="tiling-arrow">
            <a:extLst xmlns:a="http://schemas.openxmlformats.org/drawingml/2006/main">
              <a:ext uri="{FF2B5EF4-FFF2-40B4-BE49-F238E27FC236}">
                <a16:creationId xmlns:a16="http://schemas.microsoft.com/office/drawing/2014/main" id="{EFE2D893-59B5-42D4-855A-007E233E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00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6" name="after-label">
            <a:extLst xmlns:a="http://schemas.openxmlformats.org/drawingml/2006/main">
              <a:ext uri="{FF2B5EF4-FFF2-40B4-BE49-F238E27FC236}">
                <a16:creationId xmlns:a16="http://schemas.microsoft.com/office/drawing/2014/main" id="{89CC91AD-7239-4D45-BF12-E12DA14B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340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建议：沿 KV_LORA_RANK_CFG 循环分块</a:t>
            </a:r>
          </a:p>
        </p:txBody>
      </p:sp>
      <p:sp>
        <p:nvSpPr>
          <p:cNvPr id="47" name="tile-segment-0">
            <a:extLst xmlns:a="http://schemas.openxmlformats.org/drawingml/2006/main">
              <a:ext uri="{FF2B5EF4-FFF2-40B4-BE49-F238E27FC236}">
                <a16:creationId xmlns:a16="http://schemas.microsoft.com/office/drawing/2014/main" id="{EBA2D84B-1182-44DC-9262-E7576EBB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19800"/>
            <a:ext cx="13811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2"/>
          </a:solidFill>
          <a:ln xmlns:a="http://schemas.openxmlformats.org/drawingml/2006/main" w="9525">
            <a:solidFill>
              <a:srgbClr val="147D7A"/>
            </a:solidFill>
            <a:prstDash val="solid"/>
          </a:ln>
        </p:spPr>
      </p:sp>
      <p:sp>
        <p:nvSpPr>
          <p:cNvPr id="48" name="tile-segment-text-0">
            <a:extLst xmlns:a="http://schemas.openxmlformats.org/drawingml/2006/main">
              <a:ext uri="{FF2B5EF4-FFF2-40B4-BE49-F238E27FC236}">
                <a16:creationId xmlns:a16="http://schemas.microsoft.com/office/drawing/2014/main" id="{7D70F982-B308-479C-9959-DEBEE44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小块 1</a:t>
            </a:r>
          </a:p>
        </p:txBody>
      </p:sp>
      <p:sp>
        <p:nvSpPr>
          <p:cNvPr id="49" name="tile-segment-1">
            <a:extLst xmlns:a="http://schemas.openxmlformats.org/drawingml/2006/main">
              <a:ext uri="{FF2B5EF4-FFF2-40B4-BE49-F238E27FC236}">
                <a16:creationId xmlns:a16="http://schemas.microsoft.com/office/drawing/2014/main" id="{E5A8D9F8-BD4F-4438-A7F6-523011F9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19800"/>
            <a:ext cx="13811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2"/>
          </a:solidFill>
          <a:ln xmlns:a="http://schemas.openxmlformats.org/drawingml/2006/main" w="9525">
            <a:solidFill>
              <a:srgbClr val="147D7A"/>
            </a:solidFill>
            <a:prstDash val="solid"/>
          </a:ln>
        </p:spPr>
      </p:sp>
      <p:sp>
        <p:nvSpPr>
          <p:cNvPr id="50" name="tile-segment-text-1">
            <a:extLst xmlns:a="http://schemas.openxmlformats.org/drawingml/2006/main">
              <a:ext uri="{FF2B5EF4-FFF2-40B4-BE49-F238E27FC236}">
                <a16:creationId xmlns:a16="http://schemas.microsoft.com/office/drawing/2014/main" id="{057EA4BD-B476-4B31-B0A1-288B99BF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小块 2</a:t>
            </a:r>
          </a:p>
        </p:txBody>
      </p:sp>
      <p:sp>
        <p:nvSpPr>
          <p:cNvPr id="51" name="tile-segment-2">
            <a:extLst xmlns:a="http://schemas.openxmlformats.org/drawingml/2006/main">
              <a:ext uri="{FF2B5EF4-FFF2-40B4-BE49-F238E27FC236}">
                <a16:creationId xmlns:a16="http://schemas.microsoft.com/office/drawing/2014/main" id="{1BB8CADC-2912-42B5-91C5-E09C2496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019800"/>
            <a:ext cx="13811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2"/>
          </a:solidFill>
          <a:ln xmlns:a="http://schemas.openxmlformats.org/drawingml/2006/main" w="9525">
            <a:solidFill>
              <a:srgbClr val="147D7A"/>
            </a:solidFill>
            <a:prstDash val="solid"/>
          </a:ln>
        </p:spPr>
      </p:sp>
      <p:sp>
        <p:nvSpPr>
          <p:cNvPr id="52" name="tile-segment-text-2">
            <a:extLst xmlns:a="http://schemas.openxmlformats.org/drawingml/2006/main">
              <a:ext uri="{FF2B5EF4-FFF2-40B4-BE49-F238E27FC236}">
                <a16:creationId xmlns:a16="http://schemas.microsoft.com/office/drawing/2014/main" id="{74E07D4B-CE7E-4EAA-9542-CC89CF70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小块 3</a:t>
            </a:r>
          </a:p>
        </p:txBody>
      </p:sp>
      <p:sp>
        <p:nvSpPr>
          <p:cNvPr id="53" name="tile-segment-3">
            <a:extLst xmlns:a="http://schemas.openxmlformats.org/drawingml/2006/main">
              <a:ext uri="{FF2B5EF4-FFF2-40B4-BE49-F238E27FC236}">
                <a16:creationId xmlns:a16="http://schemas.microsoft.com/office/drawing/2014/main" id="{4ECE9355-5AFA-4CF1-AA73-0FD42A59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019800"/>
            <a:ext cx="1381125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3F2"/>
          </a:solidFill>
          <a:ln xmlns:a="http://schemas.openxmlformats.org/drawingml/2006/main" w="9525">
            <a:solidFill>
              <a:srgbClr val="147D7A"/>
            </a:solidFill>
            <a:prstDash val="solid"/>
          </a:ln>
        </p:spPr>
      </p:sp>
      <p:sp>
        <p:nvSpPr>
          <p:cNvPr id="54" name="tile-segment-text-3">
            <a:extLst xmlns:a="http://schemas.openxmlformats.org/drawingml/2006/main">
              <a:ext uri="{FF2B5EF4-FFF2-40B4-BE49-F238E27FC236}">
                <a16:creationId xmlns:a16="http://schemas.microsoft.com/office/drawing/2014/main" id="{C70B3FD3-1860-41EA-90B4-002A1B10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60674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7D7A"/>
                </a:solidFill>
                <a:latin typeface="Microsoft YaHei"/>
                <a:ea typeface="Microsoft YaHei"/>
                <a:cs typeface="Microsoft YaHei"/>
              </a:rPr>
              <a:t>小块 4</a:t>
            </a:r>
          </a:p>
        </p:txBody>
      </p:sp>
      <p:sp>
        <p:nvSpPr>
          <p:cNvPr id="55" name="tiling-foot">
            <a:extLst xmlns:a="http://schemas.openxmlformats.org/drawingml/2006/main">
              <a:ext uri="{FF2B5EF4-FFF2-40B4-BE49-F238E27FC236}">
                <a16:creationId xmlns:a16="http://schemas.microsoft.com/office/drawing/2014/main" id="{4350B356-4E7C-4CF3-A277-D6424F82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372225"/>
            <a:ext cx="633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rPr>
              <a:t>分块数量与块大小需结合算子语义和资源估算确定；图示不代表固定 4 块。</a:t>
            </a:r>
          </a:p>
        </p:txBody>
      </p:sp>
      <p:sp>
        <p:nvSpPr>
          <p:cNvPr id="56" name="source-line">
            <a:extLst xmlns:a="http://schemas.openxmlformats.org/drawingml/2006/main">
              <a:ext uri="{FF2B5EF4-FFF2-40B4-BE49-F238E27FC236}">
                <a16:creationId xmlns:a16="http://schemas.microsoft.com/office/drawing/2014/main" id="{E7340EEE-EC53-460B-98A0-AA7C7D96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19875"/>
            <a:ext cx="11001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7838D"/>
                </a:solidFill>
                <a:latin typeface="Microsoft YaHei"/>
                <a:ea typeface="Microsoft YaHei"/>
                <a:cs typeface="Microsoft YaHei"/>
              </a:rPr>
              <a:t>Issue 事实：Rank 128→512；Right buffer 98,304 B &gt; 65,536 B；建议沿 rank 增加循环。图示与诊断文案为设计扩展。</a:t>
            </a:r>
          </a:p>
        </p:txBody>
      </p:sp>
    </p:spTree>
    <p:extLst>
      <p:ext uri="{BB962C8B-B14F-4D97-AF65-F5344CB8AC3E}">
        <p14:creationId xmlns:p14="http://schemas.microsoft.com/office/powerpoint/2010/main" val="282481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2026-10-20T11:35:19.3120000Z</dcterms:created>
  <dcterms:modified xsi:type="dcterms:W3CDTF">2026-10-20T11:35:19.3120000Z</dcterms:modified>
</coreProperties>
</file>