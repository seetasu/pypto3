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226356366d441d" /><Relationship Type="http://schemas.openxmlformats.org/officeDocument/2006/relationships/extended-properties" Target="/docProps/app.xml" Id="Rcbb7f7247e834ee1" /><Relationship Type="http://schemas.openxmlformats.org/officeDocument/2006/relationships/officeDocument" Target="/ppt/presentation.xml" Id="R1471b533585948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cf4102a5724f4a"/>
  </p:sldMasterIdLst>
  <p:notesMasterIdLst>
    <p:notesMasterId xmlns:r="http://schemas.openxmlformats.org/officeDocument/2006/relationships" r:id="R2fa9c626c4bc4a1c"/>
  </p:notesMasterIdLst>
  <p:sldIdLst>
    <p:sldId xmlns:r="http://schemas.openxmlformats.org/officeDocument/2006/relationships" id="256" r:id="Rfd5537d1f8544a5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3157f8cf38431f" /><Relationship Type="http://schemas.openxmlformats.org/officeDocument/2006/relationships/slideMaster" Target="/ppt/slideMasters/slideMaster1.xml" Id="Re4cf4102a5724f4a" /><Relationship Type="http://schemas.openxmlformats.org/officeDocument/2006/relationships/notesMaster" Target="/ppt/notesMasters/notesMaster1.xml" Id="R2fa9c626c4bc4a1c" /><Relationship Type="http://schemas.openxmlformats.org/officeDocument/2006/relationships/presProps" Target="/ppt/presProps.xml" Id="R6a47fb30d7bd4d06" /><Relationship Type="http://schemas.openxmlformats.org/officeDocument/2006/relationships/tableStyles" Target="/ppt/tableStyles.xml" Id="Rd892107148ee463f" /><Relationship Type="http://schemas.openxmlformats.org/officeDocument/2006/relationships/slide" Target="/ppt/slides/slide1.xml" Id="Rfd5537d1f8544a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4c803130f7343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8fca9ebd1540a4" /><Relationship Type="http://schemas.openxmlformats.org/officeDocument/2006/relationships/notesMaster" Target="/ppt/notesMasters/notesMaster1.xml" Id="R33a22ac3134a435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来源与事实口径：</a:t>
            </a:r>
          </a:p>
          <a:p xmlns:a="http://schemas.openxmlformats.org/drawingml/2006/main">
            <a:r>
              <a:t>1) https://github.com/hw-native-sys/pypto/issues/2232：AutoTileMatmulL0 因 matmul_acc 的 M/N 切片限制整体放弃自动切分；L0C 累加器是约束根因，K 切分也被连带丢弃，最终暴露为 L0B/L1 或对齐错误；N_TILE=1024 可编译，1152 失败。</a:t>
            </a:r>
          </a:p>
          <a:p xmlns:a="http://schemas.openxmlformats.org/drawingml/2006/main">
            <a:r>
              <a:t>2) https://github.com/hw-native-sys/pypto/issues/2287：Vec 使用 213760 B 超过 188416 B；C2V 实际 payload 16384 B，预留 131072 B；将 slot_num 降为 1 后预留仍为 131072 B，仍超预算。</a:t>
            </a:r>
          </a:p>
          <a:p xmlns:a="http://schemas.openxmlformats.org/drawingml/2006/main">
            <a:r>
              <a:t>示例诊断与行动文案属于产品设计建议，不表示当前系统已实现。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05dce89ae34e0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50595685264af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9053c03a604f0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647797868440b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aed8a624d344d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00b7c1dfe340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F446B73-C416-4CCD-91E5-F82AECF51C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213EAB1-7020-4746-AFB7-D4A23B63476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427AF67-7514-41C0-9C83-2A7409FA31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07FA7C3-1478-4812-A9F4-A39F5DE610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134B241-B939-49F2-9D33-0E80A6118F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C01F988-C80D-43B9-9A41-1A8533794B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D0FF485-EF23-4ED9-8A90-F2207E6309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55210F6-1323-48FD-8B8C-E8DFB7C5896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94A89B4-7E1D-485B-9D69-C5B0CB26F8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61E4A53-6A77-41DF-95F6-C3C1A2B504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2e8d4bf2abf4e65" /><Relationship Type="http://schemas.openxmlformats.org/officeDocument/2006/relationships/slideLayout" Target="/ppt/slideLayouts/slideLayout1.xml" Id="R44785b881c8e4122" /><Relationship Type="http://schemas.openxmlformats.org/officeDocument/2006/relationships/slideLayout" Target="/ppt/slideLayouts/slideLayout2.xml" Id="R5cbebdc9aab64e2b" /><Relationship Type="http://schemas.openxmlformats.org/officeDocument/2006/relationships/slideLayout" Target="/ppt/slideLayouts/slideLayout3.xml" Id="Re93412ec3cc047f6" /><Relationship Type="http://schemas.openxmlformats.org/officeDocument/2006/relationships/slideLayout" Target="/ppt/slideLayouts/slideLayout4.xml" Id="Rc12d65a9e69f4eab" /><Relationship Type="http://schemas.openxmlformats.org/officeDocument/2006/relationships/slideLayout" Target="/ppt/slideLayouts/slideLayout5.xml" Id="R87e3ea3d7f814419" /><Relationship Type="http://schemas.openxmlformats.org/officeDocument/2006/relationships/slideLayout" Target="/ppt/slideLayouts/slideLayout6.xml" Id="R927e090040554b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785b881c8e4122"/>
    <p:sldLayoutId xmlns:r="http://schemas.openxmlformats.org/officeDocument/2006/relationships" id="2147483650" r:id="R5cbebdc9aab64e2b"/>
    <p:sldLayoutId xmlns:r="http://schemas.openxmlformats.org/officeDocument/2006/relationships" id="2147483651" r:id="Re93412ec3cc047f6"/>
    <p:sldLayoutId xmlns:r="http://schemas.openxmlformats.org/officeDocument/2006/relationships" id="2147483652" r:id="Rc12d65a9e69f4eab"/>
    <p:sldLayoutId xmlns:r="http://schemas.openxmlformats.org/officeDocument/2006/relationships" id="2147483653" r:id="R87e3ea3d7f814419"/>
    <p:sldLayoutId xmlns:r="http://schemas.openxmlformats.org/officeDocument/2006/relationships" id="2147483654" r:id="R927e090040554b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4d8981679446d8" /><Relationship Type="http://schemas.openxmlformats.org/officeDocument/2006/relationships/notesSlide" Target="/ppt/notesSlides/notesSlide1.xml" Id="Rad1b981ffff6487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itle">
            <a:extLst xmlns:a="http://schemas.openxmlformats.org/drawingml/2006/main">
              <a:ext uri="{FF2B5EF4-FFF2-40B4-BE49-F238E27FC236}">
                <a16:creationId xmlns:a16="http://schemas.microsoft.com/office/drawing/2014/main" id="{2933F977-54D5-4FE5-BA5A-FCDE3C2B2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0906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报错之后，用户还得自己读懂硬件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966EE35-C6C0-4911-A580-CEA3CC86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6202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两个真实编译失败：硬件信息很多，真正能指导修改的线索却藏在其中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6226B02E-8355-4669-8B80-F8CD0A22E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eft-accent">
            <a:extLst xmlns:a="http://schemas.openxmlformats.org/drawingml/2006/main">
              <a:ext uri="{FF2B5EF4-FFF2-40B4-BE49-F238E27FC236}">
                <a16:creationId xmlns:a16="http://schemas.microsoft.com/office/drawing/2014/main" id="{E1D798F8-D49B-426A-AF7D-E242EB57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762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55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ight-accent">
            <a:extLst xmlns:a="http://schemas.openxmlformats.org/drawingml/2006/main">
              <a:ext uri="{FF2B5EF4-FFF2-40B4-BE49-F238E27FC236}">
                <a16:creationId xmlns:a16="http://schemas.microsoft.com/office/drawing/2014/main" id="{3A9F7733-3D73-4F70-AD1B-E781E1F4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95450"/>
            <a:ext cx="4762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enter-divider">
            <a:extLst xmlns:a="http://schemas.openxmlformats.org/drawingml/2006/main">
              <a:ext uri="{FF2B5EF4-FFF2-40B4-BE49-F238E27FC236}">
                <a16:creationId xmlns:a16="http://schemas.microsoft.com/office/drawing/2014/main" id="{690E1F9B-0319-424F-9731-B4A833AF3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733550"/>
            <a:ext cx="9525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ase1-kicker">
            <a:extLst xmlns:a="http://schemas.openxmlformats.org/drawingml/2006/main">
              <a:ext uri="{FF2B5EF4-FFF2-40B4-BE49-F238E27FC236}">
                <a16:creationId xmlns:a16="http://schemas.microsoft.com/office/drawing/2014/main" id="{762DCEBB-15A0-4C01-940B-E93DD213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4895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D55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D55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D55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D55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D55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D55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D55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D55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D55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D55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D55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D552C"/>
                </a:solidFill>
                <a:latin typeface="Microsoft YaHei"/>
                <a:ea typeface="Microsoft YaHei"/>
                <a:cs typeface="Microsoft YaHei"/>
              </a:rPr>
              <a:t>CASE 01  ·  pypto#2232</a:t>
            </a:r>
          </a:p>
        </p:txBody>
      </p:sp>
      <p:sp>
        <p:nvSpPr>
          <p:cNvPr id="8" name="case1-title">
            <a:extLst xmlns:a="http://schemas.openxmlformats.org/drawingml/2006/main">
              <a:ext uri="{FF2B5EF4-FFF2-40B4-BE49-F238E27FC236}">
                <a16:creationId xmlns:a16="http://schemas.microsoft.com/office/drawing/2014/main" id="{9806E0D8-3EB9-4F36-B11C-BA428F54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19300"/>
            <a:ext cx="4895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L0B 报错，根因却在 L0C</a:t>
            </a:r>
          </a:p>
        </p:txBody>
      </p:sp>
      <p:sp>
        <p:nvSpPr>
          <p:cNvPr id="9" name="case1-error-label">
            <a:extLst xmlns:a="http://schemas.openxmlformats.org/drawingml/2006/main">
              <a:ext uri="{FF2B5EF4-FFF2-40B4-BE49-F238E27FC236}">
                <a16:creationId xmlns:a16="http://schemas.microsoft.com/office/drawing/2014/main" id="{648ED4A0-63BA-4B5E-9DA0-9F64933C4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622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rPr>
              <a:t>用户看到</a:t>
            </a:r>
          </a:p>
        </p:txBody>
      </p:sp>
      <p:sp>
        <p:nvSpPr>
          <p:cNvPr id="10" name="case1-error">
            <a:extLst xmlns:a="http://schemas.openxmlformats.org/drawingml/2006/main">
              <a:ext uri="{FF2B5EF4-FFF2-40B4-BE49-F238E27FC236}">
                <a16:creationId xmlns:a16="http://schemas.microsoft.com/office/drawing/2014/main" id="{D6081E31-1C6C-4D2D-89A4-C0C2ECDA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4800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L0B / L1 超限或对齐失败。</a:t>
            </a:r>
          </a:p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直觉上只能去改 B 矩阵 tile。</a:t>
            </a:r>
          </a:p>
        </p:txBody>
      </p:sp>
      <p:sp>
        <p:nvSpPr>
          <p:cNvPr id="11" name="case1-root-label">
            <a:extLst xmlns:a="http://schemas.openxmlformats.org/drawingml/2006/main">
              <a:ext uri="{FF2B5EF4-FFF2-40B4-BE49-F238E27FC236}">
                <a16:creationId xmlns:a16="http://schemas.microsoft.com/office/drawing/2014/main" id="{2748BC6A-2E2A-40ED-B99C-4F0521DB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052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rPr>
              <a:t>真正发生</a:t>
            </a:r>
          </a:p>
        </p:txBody>
      </p:sp>
      <p:sp>
        <p:nvSpPr>
          <p:cNvPr id="12" name="case1-root">
            <a:extLst xmlns:a="http://schemas.openxmlformats.org/drawingml/2006/main">
              <a:ext uri="{FF2B5EF4-FFF2-40B4-BE49-F238E27FC236}">
                <a16:creationId xmlns:a16="http://schemas.microsoft.com/office/drawing/2014/main" id="{C6952053-3D44-407A-AE77-317A2C3C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52850"/>
            <a:ext cx="4781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L0C 累加器超容量，自动切分中止；连原本可行的 K 切分也被丢掉，随后才报 L0B。</a:t>
            </a:r>
          </a:p>
        </p:txBody>
      </p:sp>
      <p:sp>
        <p:nvSpPr>
          <p:cNvPr id="13" name="case1-action-label">
            <a:extLst xmlns:a="http://schemas.openxmlformats.org/drawingml/2006/main">
              <a:ext uri="{FF2B5EF4-FFF2-40B4-BE49-F238E27FC236}">
                <a16:creationId xmlns:a16="http://schemas.microsoft.com/office/drawing/2014/main" id="{483D63C6-1D4B-4745-8C84-A51EFE9F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7677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BD55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1">
                <a:solidFill>
                  <a:srgbClr val="BD55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1">
                <a:solidFill>
                  <a:srgbClr val="BD55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1">
                <a:solidFill>
                  <a:srgbClr val="BD55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1">
                <a:solidFill>
                  <a:srgbClr val="BD55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1">
                <a:solidFill>
                  <a:srgbClr val="BD55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1">
                <a:solidFill>
                  <a:srgbClr val="BD55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1">
                <a:solidFill>
                  <a:srgbClr val="BD55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1">
                <a:solidFill>
                  <a:srgbClr val="BD55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1">
                <a:solidFill>
                  <a:srgbClr val="BD55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BD55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D552C"/>
                </a:solidFill>
                <a:latin typeface="Microsoft YaHei"/>
                <a:ea typeface="Microsoft YaHei"/>
                <a:cs typeface="Microsoft YaHei"/>
              </a:rPr>
              <a:t>系统该告诉他</a:t>
            </a:r>
          </a:p>
        </p:txBody>
      </p:sp>
      <p:sp>
        <p:nvSpPr>
          <p:cNvPr id="14" name="case1-action">
            <a:extLst xmlns:a="http://schemas.openxmlformats.org/drawingml/2006/main">
              <a:ext uri="{FF2B5EF4-FFF2-40B4-BE49-F238E27FC236}">
                <a16:creationId xmlns:a16="http://schemas.microsoft.com/office/drawing/2014/main" id="{13D3B23C-0142-4DA0-8276-756095A46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33950"/>
            <a:ext cx="47815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先指出 L0C 才是根因，再建议降低 N tile（≤1024）或外层拆分；解释 L0B 是连带结果。</a:t>
            </a:r>
          </a:p>
        </p:txBody>
      </p:sp>
      <p:sp>
        <p:nvSpPr>
          <p:cNvPr id="15" name="case2-kicker">
            <a:extLst xmlns:a="http://schemas.openxmlformats.org/drawingml/2006/main">
              <a:ext uri="{FF2B5EF4-FFF2-40B4-BE49-F238E27FC236}">
                <a16:creationId xmlns:a16="http://schemas.microsoft.com/office/drawing/2014/main" id="{6349CD1C-66C2-4F8E-839D-0D5EE676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695450"/>
            <a:ext cx="4895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rPr>
              <a:t>CASE 02  ·  pypto#2287</a:t>
            </a:r>
          </a:p>
        </p:txBody>
      </p:sp>
      <p:sp>
        <p:nvSpPr>
          <p:cNvPr id="16" name="case2-title">
            <a:extLst xmlns:a="http://schemas.openxmlformats.org/drawingml/2006/main">
              <a:ext uri="{FF2B5EF4-FFF2-40B4-BE49-F238E27FC236}">
                <a16:creationId xmlns:a16="http://schemas.microsoft.com/office/drawing/2014/main" id="{1D980D90-5556-4BDC-85EC-502448B3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19300"/>
            <a:ext cx="4895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UB 超限，建议却不管用</a:t>
            </a:r>
          </a:p>
        </p:txBody>
      </p:sp>
      <p:sp>
        <p:nvSpPr>
          <p:cNvPr id="17" name="case2-error-label">
            <a:extLst xmlns:a="http://schemas.openxmlformats.org/drawingml/2006/main">
              <a:ext uri="{FF2B5EF4-FFF2-40B4-BE49-F238E27FC236}">
                <a16:creationId xmlns:a16="http://schemas.microsoft.com/office/drawing/2014/main" id="{6E8AA8AF-BE4A-4A8D-A7E4-7BB260DF3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622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rPr>
              <a:t>用户看到</a:t>
            </a:r>
          </a:p>
        </p:txBody>
      </p:sp>
      <p:sp>
        <p:nvSpPr>
          <p:cNvPr id="18" name="case2-error">
            <a:extLst xmlns:a="http://schemas.openxmlformats.org/drawingml/2006/main">
              <a:ext uri="{FF2B5EF4-FFF2-40B4-BE49-F238E27FC236}">
                <a16:creationId xmlns:a16="http://schemas.microsoft.com/office/drawing/2014/main" id="{AD3EEC05-65E4-4D02-9290-D58DE49A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00350"/>
            <a:ext cx="4800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Vec 213,760 B &gt; 安全上限 188,416 B。</a:t>
            </a:r>
          </a:p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建议降环深度，或缩小 tile。</a:t>
            </a:r>
          </a:p>
        </p:txBody>
      </p:sp>
      <p:sp>
        <p:nvSpPr>
          <p:cNvPr id="19" name="case2-root-label">
            <a:extLst xmlns:a="http://schemas.openxmlformats.org/drawingml/2006/main">
              <a:ext uri="{FF2B5EF4-FFF2-40B4-BE49-F238E27FC236}">
                <a16:creationId xmlns:a16="http://schemas.microsoft.com/office/drawing/2014/main" id="{68AE4DEB-9882-493D-A11F-DE82C00F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5052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rPr>
              <a:t>真正发生</a:t>
            </a:r>
          </a:p>
        </p:txBody>
      </p:sp>
      <p:sp>
        <p:nvSpPr>
          <p:cNvPr id="20" name="case2-root">
            <a:extLst xmlns:a="http://schemas.openxmlformats.org/drawingml/2006/main">
              <a:ext uri="{FF2B5EF4-FFF2-40B4-BE49-F238E27FC236}">
                <a16:creationId xmlns:a16="http://schemas.microsoft.com/office/drawing/2014/main" id="{30718792-AF27-4671-9510-9D5B3C5E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52850"/>
            <a:ext cx="4781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C2V 只传 16 KiB，却被预留 128 KiB；降 slot_num 到 1，预留仍不变。</a:t>
            </a:r>
          </a:p>
        </p:txBody>
      </p:sp>
      <p:sp>
        <p:nvSpPr>
          <p:cNvPr id="21" name="case2-action-label">
            <a:extLst xmlns:a="http://schemas.openxmlformats.org/drawingml/2006/main">
              <a:ext uri="{FF2B5EF4-FFF2-40B4-BE49-F238E27FC236}">
                <a16:creationId xmlns:a16="http://schemas.microsoft.com/office/drawing/2014/main" id="{7C9B7447-C424-4976-9170-A0558CE8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7677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rPr>
              <a:t>系统该告诉他</a:t>
            </a:r>
          </a:p>
        </p:txBody>
      </p:sp>
      <p:sp>
        <p:nvSpPr>
          <p:cNvPr id="22" name="case2-action">
            <a:extLst xmlns:a="http://schemas.openxmlformats.org/drawingml/2006/main">
              <a:ext uri="{FF2B5EF4-FFF2-40B4-BE49-F238E27FC236}">
                <a16:creationId xmlns:a16="http://schemas.microsoft.com/office/drawing/2014/main" id="{040F1E2E-B82E-4123-9542-EFAD5AD8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933950"/>
            <a:ext cx="47815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拆出 tile 与系统预留的内存账单；明确降 slot 无效。没有可用旋钮时，说明限制并给修复路径。</a:t>
            </a:r>
          </a:p>
        </p:txBody>
      </p:sp>
      <p:sp>
        <p:nvSpPr>
          <p:cNvPr id="23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AE0F0303-13C2-4615-8377-90A66ED9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1633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akeaway-label">
            <a:extLst xmlns:a="http://schemas.openxmlformats.org/drawingml/2006/main">
              <a:ext uri="{FF2B5EF4-FFF2-40B4-BE49-F238E27FC236}">
                <a16:creationId xmlns:a16="http://schemas.microsoft.com/office/drawing/2014/main" id="{7BCF52F0-3747-4BAD-94CA-BC648590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29325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9ED8D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9ED8D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9ED8D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9ED8D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9ED8D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9ED8D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9ED8D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9ED8D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9ED8D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9ED8D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9ED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9ED8D0"/>
                </a:solidFill>
                <a:latin typeface="Microsoft YaHei"/>
                <a:ea typeface="Microsoft YaHei"/>
                <a:cs typeface="Microsoft YaHei"/>
              </a:rPr>
              <a:t>好的硬件诊断</a:t>
            </a:r>
          </a:p>
        </p:txBody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12255BC3-E83E-4D3D-BCB3-0E6474F8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98170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筛出相关约束  →  讲清错误因果  →  给出验证过的改法</a:t>
            </a:r>
          </a:p>
        </p:txBody>
      </p:sp>
      <p:sp>
        <p:nvSpPr>
          <p:cNvPr id="26" name="sources">
            <a:extLst xmlns:a="http://schemas.openxmlformats.org/drawingml/2006/main">
              <a:ext uri="{FF2B5EF4-FFF2-40B4-BE49-F238E27FC236}">
                <a16:creationId xmlns:a16="http://schemas.microsoft.com/office/drawing/2014/main" id="{65A34C15-72DE-4A98-A790-C6EE5DE58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581775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0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0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0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0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0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0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0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0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0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5818C"/>
                </a:solidFill>
                <a:latin typeface="Microsoft YaHei"/>
                <a:ea typeface="Microsoft YaHei"/>
                <a:cs typeface="Microsoft YaHei"/>
              </a:rPr>
              <a:t>来源：hw-native-sys/pypto#2232、#2287（Issue 事实）；建议为产品设计扩展</a:t>
            </a:r>
          </a:p>
        </p:txBody>
      </p:sp>
    </p:spTree>
    <p:extLst>
      <p:ext uri="{BB962C8B-B14F-4D97-AF65-F5344CB8AC3E}">
        <p14:creationId xmlns:p14="http://schemas.microsoft.com/office/powerpoint/2010/main" val="11241133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2026-10-20T08:25:45.1360000Z</dcterms:created>
  <dcterms:modified xsi:type="dcterms:W3CDTF">2026-10-20T08:25:45.1370000Z</dcterms:modified>
</coreProperties>
</file>