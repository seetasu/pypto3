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9d19d6be55459f" /><Relationship Type="http://schemas.openxmlformats.org/officeDocument/2006/relationships/extended-properties" Target="/docProps/app.xml" Id="R3aa59e18ffad416b" /><Relationship Type="http://schemas.openxmlformats.org/officeDocument/2006/relationships/officeDocument" Target="/ppt/presentation.xml" Id="Rde39716969a14f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52c12891c04a7f"/>
  </p:sldMasterIdLst>
  <p:notesMasterIdLst>
    <p:notesMasterId xmlns:r="http://schemas.openxmlformats.org/officeDocument/2006/relationships" r:id="Rcce1941c925b4418"/>
  </p:notesMasterIdLst>
  <p:sldIdLst>
    <p:sldId xmlns:r="http://schemas.openxmlformats.org/officeDocument/2006/relationships" id="256" r:id="R71babf5c1f4649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20fdd8bbab45f5" /><Relationship Type="http://schemas.openxmlformats.org/officeDocument/2006/relationships/slideMaster" Target="/ppt/slideMasters/slideMaster1.xml" Id="R3052c12891c04a7f" /><Relationship Type="http://schemas.openxmlformats.org/officeDocument/2006/relationships/notesMaster" Target="/ppt/notesMasters/notesMaster1.xml" Id="Rcce1941c925b4418" /><Relationship Type="http://schemas.openxmlformats.org/officeDocument/2006/relationships/presProps" Target="/ppt/presProps.xml" Id="R834038d4488e4785" /><Relationship Type="http://schemas.openxmlformats.org/officeDocument/2006/relationships/tableStyles" Target="/ppt/tableStyles.xml" Id="R9469eccae7e54b0b" /><Relationship Type="http://schemas.openxmlformats.org/officeDocument/2006/relationships/slide" Target="/ppt/slides/slide1.xml" Id="R71babf5c1f4649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b1367bec034a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05e7acffe7460f" /><Relationship Type="http://schemas.openxmlformats.org/officeDocument/2006/relationships/notesMaster" Target="/ppt/notesMasters/notesMaster1.xml" Id="R12891d2fcaba40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来源与事实口径：</a:t>
            </a:r>
          </a:p>
          <a:p xmlns:a="http://schemas.openxmlformats.org/drawingml/2006/main">
            <a:r>
              <a:t>1) https://github.com/hw-native-sys/pypto/issues/630：KV_LORA_RANK 从 128 增至 512 后，AllocateMemoryAddr 报 Right buffer 98304 B 超过 65536 B；报告含 tile 生命周期等底层细节。Issue 指出需要沿 KV_LORA_RANK 增加分块循环。</a:t>
            </a:r>
          </a:p>
          <a:p xmlns:a="http://schemas.openxmlformats.org/drawingml/2006/main">
            <a:r>
              <a:t>2) https://github.com/hw-native-sys/pypto/issues/2287：Vec 使用 213760 B 超过 188416 B；C2V 实际 payload 16384 B，预留 131072 B；将 slot_num 降为 1 后预留仍为 131072 B，仍超预算。</a:t>
            </a:r>
          </a:p>
          <a:p xmlns:a="http://schemas.openxmlformats.org/drawingml/2006/main">
            <a:r>
              <a:t>示例诊断与行动文案属于产品设计建议，不表示当前系统已实现。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28f55dacf41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8e93d1f454e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6c920a4d047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1d5f15b984c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1b3ba58244f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f4042ac9741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16C0F4-B914-40A1-9B34-7936972B97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ED02AB-AC37-4A8A-92C2-E19395CB89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4782DB-F60A-48DD-8720-A79B4F1D9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7416CD-88AC-4EE8-93DC-64D51EAB4C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0597A40-4403-4B20-B963-565079D6DC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43BD5C-D594-43AB-A299-5DF8C579B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F6CC9B-9DBC-4DED-AFE6-1E0D235D4A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646F9F-257C-4DE9-9E9C-AF5CA2D205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5EA02E-3ECB-405A-845C-A51BA9FDAC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0C8B91-0948-4621-803A-77C310A63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b73280b1d7492d" /><Relationship Type="http://schemas.openxmlformats.org/officeDocument/2006/relationships/slideLayout" Target="/ppt/slideLayouts/slideLayout1.xml" Id="Rf321597db81b419c" /><Relationship Type="http://schemas.openxmlformats.org/officeDocument/2006/relationships/slideLayout" Target="/ppt/slideLayouts/slideLayout2.xml" Id="R23952c5765c54207" /><Relationship Type="http://schemas.openxmlformats.org/officeDocument/2006/relationships/slideLayout" Target="/ppt/slideLayouts/slideLayout3.xml" Id="Ra56cc252ecf74619" /><Relationship Type="http://schemas.openxmlformats.org/officeDocument/2006/relationships/slideLayout" Target="/ppt/slideLayouts/slideLayout4.xml" Id="R1c6e5c77324d428c" /><Relationship Type="http://schemas.openxmlformats.org/officeDocument/2006/relationships/slideLayout" Target="/ppt/slideLayouts/slideLayout5.xml" Id="R1f65ceafa646449c" /><Relationship Type="http://schemas.openxmlformats.org/officeDocument/2006/relationships/slideLayout" Target="/ppt/slideLayouts/slideLayout6.xml" Id="R9f3ef60516e346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21597db81b419c"/>
    <p:sldLayoutId xmlns:r="http://schemas.openxmlformats.org/officeDocument/2006/relationships" id="2147483650" r:id="R23952c5765c54207"/>
    <p:sldLayoutId xmlns:r="http://schemas.openxmlformats.org/officeDocument/2006/relationships" id="2147483651" r:id="Ra56cc252ecf74619"/>
    <p:sldLayoutId xmlns:r="http://schemas.openxmlformats.org/officeDocument/2006/relationships" id="2147483652" r:id="R1c6e5c77324d428c"/>
    <p:sldLayoutId xmlns:r="http://schemas.openxmlformats.org/officeDocument/2006/relationships" id="2147483653" r:id="R1f65ceafa646449c"/>
    <p:sldLayoutId xmlns:r="http://schemas.openxmlformats.org/officeDocument/2006/relationships" id="2147483654" r:id="R9f3ef60516e346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ed6f03aabf486c" /><Relationship Type="http://schemas.openxmlformats.org/officeDocument/2006/relationships/notesSlide" Target="/ppt/notesSlides/notesSlide1.xml" Id="R8229fa4de0854e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A8829F90-3EDD-4919-BBF5-F9BADF6F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报错之后，用户还得自己读懂硬件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C4354C-B30B-4569-A90C-B459EDAD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两个真实编译失败：硬件信息很多，真正能指导修改的线索却藏在其中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2316F51-251A-45E6-9FA4-457A67A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accent">
            <a:extLst xmlns:a="http://schemas.openxmlformats.org/drawingml/2006/main">
              <a:ext uri="{FF2B5EF4-FFF2-40B4-BE49-F238E27FC236}">
                <a16:creationId xmlns:a16="http://schemas.microsoft.com/office/drawing/2014/main" id="{2458C7B8-76D9-45A3-A192-9FE27274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55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ight-accent">
            <a:extLst xmlns:a="http://schemas.openxmlformats.org/drawingml/2006/main">
              <a:ext uri="{FF2B5EF4-FFF2-40B4-BE49-F238E27FC236}">
                <a16:creationId xmlns:a16="http://schemas.microsoft.com/office/drawing/2014/main" id="{8020F064-3B2B-4B8A-8490-330FD2C1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7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enter-divider">
            <a:extLst xmlns:a="http://schemas.openxmlformats.org/drawingml/2006/main">
              <a:ext uri="{FF2B5EF4-FFF2-40B4-BE49-F238E27FC236}">
                <a16:creationId xmlns:a16="http://schemas.microsoft.com/office/drawing/2014/main" id="{0E64C117-9BD7-43B4-8D78-04F13CEF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33550"/>
            <a:ext cx="952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se1-kicker">
            <a:extLst xmlns:a="http://schemas.openxmlformats.org/drawingml/2006/main">
              <a:ext uri="{FF2B5EF4-FFF2-40B4-BE49-F238E27FC236}">
                <a16:creationId xmlns:a16="http://schemas.microsoft.com/office/drawing/2014/main" id="{3522320C-6D8F-41F3-A7C4-ED8F31F3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rPr>
              <a:t>CASE 01  ·  pypto#630</a:t>
            </a:r>
          </a:p>
        </p:txBody>
      </p:sp>
      <p:sp>
        <p:nvSpPr>
          <p:cNvPr id="8" name="case1-title">
            <a:extLst xmlns:a="http://schemas.openxmlformats.org/drawingml/2006/main">
              <a:ext uri="{FF2B5EF4-FFF2-40B4-BE49-F238E27FC236}">
                <a16:creationId xmlns:a16="http://schemas.microsoft.com/office/drawing/2014/main" id="{1091B6D1-C745-4A1D-A574-E879C2B0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Right buffer 超限，要改哪里？</a:t>
            </a:r>
          </a:p>
        </p:txBody>
      </p:sp>
      <p:sp>
        <p:nvSpPr>
          <p:cNvPr id="9" name="case1-error-label">
            <a:extLst xmlns:a="http://schemas.openxmlformats.org/drawingml/2006/main">
              <a:ext uri="{FF2B5EF4-FFF2-40B4-BE49-F238E27FC236}">
                <a16:creationId xmlns:a16="http://schemas.microsoft.com/office/drawing/2014/main" id="{3D939AC6-6D73-498B-BBD0-4110ED9E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rPr>
              <a:t>用户看到</a:t>
            </a:r>
          </a:p>
        </p:txBody>
      </p:sp>
      <p:sp>
        <p:nvSpPr>
          <p:cNvPr id="10" name="case1-error">
            <a:extLst xmlns:a="http://schemas.openxmlformats.org/drawingml/2006/main">
              <a:ext uri="{FF2B5EF4-FFF2-40B4-BE49-F238E27FC236}">
                <a16:creationId xmlns:a16="http://schemas.microsoft.com/office/drawing/2014/main" id="{DD170B8B-5191-4B0D-97DA-81040D06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Right buffer 96 KiB &gt; 64 KiB；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还附带 buffer 生命周期等底层日志。</a:t>
            </a:r>
          </a:p>
        </p:txBody>
      </p:sp>
      <p:sp>
        <p:nvSpPr>
          <p:cNvPr id="11" name="case1-root-label">
            <a:extLst xmlns:a="http://schemas.openxmlformats.org/drawingml/2006/main">
              <a:ext uri="{FF2B5EF4-FFF2-40B4-BE49-F238E27FC236}">
                <a16:creationId xmlns:a16="http://schemas.microsoft.com/office/drawing/2014/main" id="{C60FBA5D-720E-4F7A-AB9B-1C333C40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rPr>
              <a:t>真正发生</a:t>
            </a:r>
          </a:p>
        </p:txBody>
      </p:sp>
      <p:sp>
        <p:nvSpPr>
          <p:cNvPr id="12" name="case1-root">
            <a:extLst xmlns:a="http://schemas.openxmlformats.org/drawingml/2006/main">
              <a:ext uri="{FF2B5EF4-FFF2-40B4-BE49-F238E27FC236}">
                <a16:creationId xmlns:a16="http://schemas.microsoft.com/office/drawing/2014/main" id="{83592A30-9ACA-4E02-BE24-257C0445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478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KV_LORA_RANK 从 128 增到 512，单块 tile 随之变大；PTO 3.0 要开发者手写大维度切分。</a:t>
            </a:r>
          </a:p>
        </p:txBody>
      </p:sp>
      <p:sp>
        <p:nvSpPr>
          <p:cNvPr id="13" name="case1-action-label">
            <a:extLst xmlns:a="http://schemas.openxmlformats.org/drawingml/2006/main">
              <a:ext uri="{FF2B5EF4-FFF2-40B4-BE49-F238E27FC236}">
                <a16:creationId xmlns:a16="http://schemas.microsoft.com/office/drawing/2014/main" id="{8F74A17E-AEA5-4E29-930F-E1372822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rPr>
              <a:t>系统该告诉他</a:t>
            </a:r>
          </a:p>
        </p:txBody>
      </p:sp>
      <p:sp>
        <p:nvSpPr>
          <p:cNvPr id="14" name="case1-action">
            <a:extLst xmlns:a="http://schemas.openxmlformats.org/drawingml/2006/main">
              <a:ext uri="{FF2B5EF4-FFF2-40B4-BE49-F238E27FC236}">
                <a16:creationId xmlns:a16="http://schemas.microsoft.com/office/drawing/2014/main" id="{24438BC2-7CFE-4227-8703-54194B29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4781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33"/>
          </a:bodyPr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沿 rank 维加循环分块。系统把容量报错直接映射到应切分的维度与改法。</a:t>
            </a:r>
          </a:p>
        </p:txBody>
      </p:sp>
      <p:sp>
        <p:nvSpPr>
          <p:cNvPr id="15" name="case2-kicker">
            <a:extLst xmlns:a="http://schemas.openxmlformats.org/drawingml/2006/main">
              <a:ext uri="{FF2B5EF4-FFF2-40B4-BE49-F238E27FC236}">
                <a16:creationId xmlns:a16="http://schemas.microsoft.com/office/drawing/2014/main" id="{C28C0384-6D7A-4B1B-9E8A-630DD80A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CASE 02  ·  pypto#2287</a:t>
            </a:r>
          </a:p>
        </p:txBody>
      </p:sp>
      <p:sp>
        <p:nvSpPr>
          <p:cNvPr id="16" name="case2-title">
            <a:extLst xmlns:a="http://schemas.openxmlformats.org/drawingml/2006/main">
              <a:ext uri="{FF2B5EF4-FFF2-40B4-BE49-F238E27FC236}">
                <a16:creationId xmlns:a16="http://schemas.microsoft.com/office/drawing/2014/main" id="{88816229-BDC4-4C84-AC73-D6A7354E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1930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UB 超限，建议却不管用</a:t>
            </a:r>
          </a:p>
        </p:txBody>
      </p:sp>
      <p:sp>
        <p:nvSpPr>
          <p:cNvPr id="17" name="case2-error-label">
            <a:extLst xmlns:a="http://schemas.openxmlformats.org/drawingml/2006/main">
              <a:ext uri="{FF2B5EF4-FFF2-40B4-BE49-F238E27FC236}">
                <a16:creationId xmlns:a16="http://schemas.microsoft.com/office/drawing/2014/main" id="{B9615344-68DF-4AD5-8911-0CD9094B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622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rPr>
              <a:t>用户看到</a:t>
            </a:r>
          </a:p>
        </p:txBody>
      </p:sp>
      <p:sp>
        <p:nvSpPr>
          <p:cNvPr id="18" name="case2-error">
            <a:extLst xmlns:a="http://schemas.openxmlformats.org/drawingml/2006/main">
              <a:ext uri="{FF2B5EF4-FFF2-40B4-BE49-F238E27FC236}">
                <a16:creationId xmlns:a16="http://schemas.microsoft.com/office/drawing/2014/main" id="{8358A931-3F65-4A51-9EE5-128DA90B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Vec 213,760 B &gt; 安全上限 188,416 B。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建议降环深度，或缩小 tile。</a:t>
            </a:r>
          </a:p>
        </p:txBody>
      </p:sp>
      <p:sp>
        <p:nvSpPr>
          <p:cNvPr id="19" name="case2-root-label">
            <a:extLst xmlns:a="http://schemas.openxmlformats.org/drawingml/2006/main">
              <a:ext uri="{FF2B5EF4-FFF2-40B4-BE49-F238E27FC236}">
                <a16:creationId xmlns:a16="http://schemas.microsoft.com/office/drawing/2014/main" id="{019E1897-132F-48C3-ADE0-2E5D4CCF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05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rPr>
              <a:t>真正发生</a:t>
            </a:r>
          </a:p>
        </p:txBody>
      </p:sp>
      <p:sp>
        <p:nvSpPr>
          <p:cNvPr id="20" name="case2-root">
            <a:extLst xmlns:a="http://schemas.openxmlformats.org/drawingml/2006/main">
              <a:ext uri="{FF2B5EF4-FFF2-40B4-BE49-F238E27FC236}">
                <a16:creationId xmlns:a16="http://schemas.microsoft.com/office/drawing/2014/main" id="{495AB23E-9891-4A31-8B9F-B367C72E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52850"/>
            <a:ext cx="478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C2V 只传 16 KiB，却被预留 128 KiB；降 slot_num 到 1，预留仍不变。</a:t>
            </a:r>
          </a:p>
        </p:txBody>
      </p:sp>
      <p:sp>
        <p:nvSpPr>
          <p:cNvPr id="21" name="case2-action-label">
            <a:extLst xmlns:a="http://schemas.openxmlformats.org/drawingml/2006/main">
              <a:ext uri="{FF2B5EF4-FFF2-40B4-BE49-F238E27FC236}">
                <a16:creationId xmlns:a16="http://schemas.microsoft.com/office/drawing/2014/main" id="{9A875367-D591-4309-B4D4-5A3BA130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767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系统该告诉他</a:t>
            </a:r>
          </a:p>
        </p:txBody>
      </p:sp>
      <p:sp>
        <p:nvSpPr>
          <p:cNvPr id="22" name="case2-action">
            <a:extLst xmlns:a="http://schemas.openxmlformats.org/drawingml/2006/main">
              <a:ext uri="{FF2B5EF4-FFF2-40B4-BE49-F238E27FC236}">
                <a16:creationId xmlns:a16="http://schemas.microsoft.com/office/drawing/2014/main" id="{6E36DC3E-E3C5-4C65-AFDD-794B0E47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33950"/>
            <a:ext cx="4781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拆出 tile 与系统预留的内存账单；明确降 slot 无效。没有可用旋钮时，说明限制并给修复路径。</a:t>
            </a:r>
          </a:p>
        </p:txBody>
      </p:sp>
      <p:sp>
        <p:nvSpPr>
          <p:cNvPr id="2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0DBE0EA2-0545-4A51-A243-40449453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633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C3A7857D-3937-4E82-8AF4-A60C1745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293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rPr>
              <a:t>好的硬件诊断</a:t>
            </a:r>
          </a:p>
        </p:txBody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DC403706-D5C8-43EF-BBBD-7DD0C1E0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81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筛出相关约束  →  讲清错误因果  →  给出验证过的改法</a:t>
            </a:r>
          </a:p>
        </p:txBody>
      </p:sp>
      <p:sp>
        <p:nvSpPr>
          <p:cNvPr id="26" name="sources">
            <a:extLst xmlns:a="http://schemas.openxmlformats.org/drawingml/2006/main">
              <a:ext uri="{FF2B5EF4-FFF2-40B4-BE49-F238E27FC236}">
                <a16:creationId xmlns:a16="http://schemas.microsoft.com/office/drawing/2014/main" id="{C2FFEA08-F458-48A3-B45B-25F5EF0F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81775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rPr>
              <a:t>来源：hw-native-sys/pypto#630、#2287（Issue 事实）；建议为产品设计扩展</a:t>
            </a:r>
          </a:p>
        </p:txBody>
      </p:sp>
    </p:spTree>
    <p:extLst>
      <p:ext uri="{BB962C8B-B14F-4D97-AF65-F5344CB8AC3E}">
        <p14:creationId xmlns:p14="http://schemas.microsoft.com/office/powerpoint/2010/main" val="1770003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2026-10-20T08:31:40.1560000Z</dcterms:created>
  <dcterms:modified xsi:type="dcterms:W3CDTF">2026-10-20T08:31:40.1560000Z</dcterms:modified>
</coreProperties>
</file>